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5" r:id="rId26"/>
    <p:sldId id="286" r:id="rId27"/>
    <p:sldId id="287" r:id="rId28"/>
    <p:sldId id="279" r:id="rId29"/>
    <p:sldId id="284" r:id="rId30"/>
    <p:sldId id="282" r:id="rId31"/>
    <p:sldId id="28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2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5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9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32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43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3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7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1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1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4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4097F-4067-4BA1-82AC-E4B94A7932D9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6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about Theory of Computation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7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695325"/>
            <a:ext cx="7962900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89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81013"/>
            <a:ext cx="8343900" cy="589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64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585788"/>
            <a:ext cx="8277225" cy="568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97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14350"/>
            <a:ext cx="8353425" cy="582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6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614363"/>
            <a:ext cx="8372475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597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395413"/>
            <a:ext cx="79819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9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685800"/>
            <a:ext cx="793432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878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285750"/>
            <a:ext cx="8162925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59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319088"/>
            <a:ext cx="8086725" cy="621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97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09563"/>
            <a:ext cx="8029575" cy="623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901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76238"/>
            <a:ext cx="8029575" cy="610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86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371475"/>
            <a:ext cx="8086725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13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628650"/>
            <a:ext cx="7200900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58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7188"/>
            <a:ext cx="8077200" cy="614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45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847725"/>
            <a:ext cx="845820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101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271588"/>
            <a:ext cx="7915275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20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85788"/>
            <a:ext cx="7343775" cy="568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56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338138"/>
            <a:ext cx="7800975" cy="618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120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90525"/>
            <a:ext cx="8134350" cy="607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8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3388"/>
            <a:ext cx="8229600" cy="59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93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55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 - AUTOMATA AND REGULAR EXPRESSIONS </a:t>
            </a: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645024"/>
            <a:ext cx="8424936" cy="295232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1. </a:t>
            </a:r>
            <a:r>
              <a:rPr lang="en-IN" dirty="0" smtClean="0">
                <a:solidFill>
                  <a:schemeClr val="tx1"/>
                </a:solidFill>
              </a:rPr>
              <a:t>formal </a:t>
            </a:r>
            <a:r>
              <a:rPr lang="en-IN" dirty="0">
                <a:solidFill>
                  <a:schemeClr val="tx1"/>
                </a:solidFill>
              </a:rPr>
              <a:t>proof </a:t>
            </a:r>
            <a:endParaRPr lang="en-IN" dirty="0" smtClean="0">
              <a:solidFill>
                <a:schemeClr val="tx1"/>
              </a:solidFill>
            </a:endParaRPr>
          </a:p>
          <a:p>
            <a:pPr algn="l"/>
            <a:r>
              <a:rPr lang="en-IN" dirty="0" smtClean="0">
                <a:solidFill>
                  <a:schemeClr val="tx1"/>
                </a:solidFill>
              </a:rPr>
              <a:t>2.Deterministic </a:t>
            </a:r>
            <a:r>
              <a:rPr lang="en-IN" dirty="0">
                <a:solidFill>
                  <a:schemeClr val="tx1"/>
                </a:solidFill>
              </a:rPr>
              <a:t>Finite Automata (DFA) </a:t>
            </a:r>
            <a:r>
              <a:rPr lang="en-IN" dirty="0" smtClean="0">
                <a:solidFill>
                  <a:schemeClr val="tx1"/>
                </a:solidFill>
              </a:rPr>
              <a:t> - </a:t>
            </a:r>
            <a:r>
              <a:rPr lang="en-IN" dirty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MINIMIZED D</a:t>
            </a:r>
            <a:endParaRPr lang="en-IN" dirty="0">
              <a:solidFill>
                <a:schemeClr val="tx1"/>
              </a:solidFill>
            </a:endParaRPr>
          </a:p>
          <a:p>
            <a:pPr algn="l"/>
            <a:r>
              <a:rPr lang="en-IN" dirty="0" smtClean="0">
                <a:solidFill>
                  <a:schemeClr val="tx1"/>
                </a:solidFill>
              </a:rPr>
              <a:t>3.Non-deterministic </a:t>
            </a:r>
            <a:r>
              <a:rPr lang="en-IN" dirty="0">
                <a:solidFill>
                  <a:schemeClr val="tx1"/>
                </a:solidFill>
              </a:rPr>
              <a:t>Finite Automata (NFA) </a:t>
            </a:r>
            <a:r>
              <a:rPr lang="en-IN" dirty="0" smtClean="0">
                <a:solidFill>
                  <a:schemeClr val="tx1"/>
                </a:solidFill>
              </a:rPr>
              <a:t>-</a:t>
            </a:r>
            <a:r>
              <a:rPr lang="en-IN" dirty="0">
                <a:solidFill>
                  <a:schemeClr val="tx1"/>
                </a:solidFill>
              </a:rPr>
              <a:t> convert NFA TO DFA </a:t>
            </a:r>
            <a:r>
              <a:rPr lang="en-IN" dirty="0">
                <a:solidFill>
                  <a:schemeClr val="tx1"/>
                </a:solidFill>
              </a:rPr>
              <a:t>	</a:t>
            </a:r>
            <a:endParaRPr lang="en-IN" dirty="0" smtClean="0">
              <a:solidFill>
                <a:schemeClr val="tx1"/>
              </a:solidFill>
            </a:endParaRPr>
          </a:p>
          <a:p>
            <a:pPr algn="l"/>
            <a:r>
              <a:rPr lang="en-IN" dirty="0" smtClean="0">
                <a:solidFill>
                  <a:schemeClr val="tx1"/>
                </a:solidFill>
              </a:rPr>
              <a:t>4. </a:t>
            </a:r>
            <a:r>
              <a:rPr lang="en-US" dirty="0" smtClean="0">
                <a:solidFill>
                  <a:schemeClr val="tx1"/>
                </a:solidFill>
              </a:rPr>
              <a:t>NFA WITH EPCILON  TO with out </a:t>
            </a:r>
            <a:r>
              <a:rPr lang="en-US" dirty="0" err="1" smtClean="0">
                <a:solidFill>
                  <a:schemeClr val="tx1"/>
                </a:solidFill>
              </a:rPr>
              <a:t>epcilon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79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II - REGULAR EXPRESSIONS AND LANGUAGES </a:t>
            </a:r>
            <a:r>
              <a:rPr lang="en-US" dirty="0"/>
              <a:t>	</a:t>
            </a:r>
            <a:br>
              <a:rPr lang="en-US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1.Regular </a:t>
            </a:r>
            <a:r>
              <a:rPr lang="en-IN" dirty="0"/>
              <a:t>Expressions 	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2. Properties </a:t>
            </a:r>
            <a:r>
              <a:rPr lang="en-IN" dirty="0"/>
              <a:t>of Regular Languages 	</a:t>
            </a:r>
            <a:br>
              <a:rPr lang="en-IN" dirty="0"/>
            </a:br>
            <a:r>
              <a:rPr lang="en-IN" dirty="0" smtClean="0"/>
              <a:t> 3. Pumping </a:t>
            </a:r>
            <a:r>
              <a:rPr lang="en-IN" dirty="0"/>
              <a:t>Lemma 	</a:t>
            </a:r>
            <a:br>
              <a:rPr lang="en-IN" dirty="0"/>
            </a:br>
            <a:r>
              <a:rPr lang="en-IN" dirty="0" smtClean="0"/>
              <a:t>4.</a:t>
            </a:r>
            <a:r>
              <a:rPr lang="en-US" dirty="0" smtClean="0"/>
              <a:t> </a:t>
            </a:r>
            <a:r>
              <a:rPr lang="en-US" dirty="0"/>
              <a:t>Closure properties of regular languages. 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417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III - CONTEXT FREE GRAMMAR AND PUSH DOWN AUTOMATA 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1. Context-Free </a:t>
            </a:r>
            <a:r>
              <a:rPr lang="en-IN" dirty="0"/>
              <a:t>Grammars and Languages 	</a:t>
            </a:r>
          </a:p>
          <a:p>
            <a:pPr marL="0" indent="0">
              <a:buNone/>
            </a:pPr>
            <a:r>
              <a:rPr lang="en-IN" dirty="0" smtClean="0"/>
              <a:t>2. </a:t>
            </a:r>
            <a:r>
              <a:rPr lang="en-IN" dirty="0"/>
              <a:t>Ambiguity in grammars 	</a:t>
            </a:r>
          </a:p>
          <a:p>
            <a:pPr marL="0" indent="0">
              <a:buNone/>
            </a:pPr>
            <a:r>
              <a:rPr lang="en-IN" dirty="0" smtClean="0"/>
              <a:t> 3. </a:t>
            </a:r>
            <a:r>
              <a:rPr lang="en-IN" dirty="0"/>
              <a:t>Push Down Automata 	</a:t>
            </a:r>
          </a:p>
          <a:p>
            <a:pPr marL="0" indent="0">
              <a:buNone/>
            </a:pPr>
            <a:r>
              <a:rPr lang="en-IN" dirty="0" smtClean="0"/>
              <a:t>4.</a:t>
            </a:r>
            <a:r>
              <a:rPr lang="en-US" dirty="0" smtClean="0"/>
              <a:t> </a:t>
            </a:r>
            <a:r>
              <a:rPr lang="en-US" dirty="0"/>
              <a:t>Equivalence of PDA's and CFG's 	</a:t>
            </a:r>
          </a:p>
          <a:p>
            <a:pPr marL="0" indent="0">
              <a:buNone/>
            </a:pPr>
            <a:r>
              <a:rPr lang="en-IN" dirty="0" smtClean="0"/>
              <a:t>5. Deterministic </a:t>
            </a:r>
            <a:r>
              <a:rPr lang="en-IN" dirty="0"/>
              <a:t>Pushdown Automata 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370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UNIT </a:t>
            </a:r>
            <a:r>
              <a:rPr lang="en-US" b="1" dirty="0"/>
              <a:t>IV - NORMAL FORMS AND TURING MACHINES 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1. </a:t>
            </a:r>
            <a:r>
              <a:rPr lang="en-IN" dirty="0"/>
              <a:t>Chomsky Normal Form (CNF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 smtClean="0"/>
              <a:t>2. </a:t>
            </a:r>
            <a:r>
              <a:rPr lang="en-IN" dirty="0" err="1"/>
              <a:t>Greibach</a:t>
            </a:r>
            <a:r>
              <a:rPr lang="en-IN" dirty="0"/>
              <a:t> Normal Form (GNF)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 smtClean="0"/>
              <a:t> 3. </a:t>
            </a:r>
            <a:r>
              <a:rPr lang="en-IN" dirty="0"/>
              <a:t>Turing Machine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037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IN" b="1" dirty="0"/>
              <a:t>UNIT V - UNDECIDABILITY </a:t>
            </a:r>
            <a:r>
              <a:rPr lang="en-IN" dirty="0"/>
              <a:t>	</a:t>
            </a:r>
            <a:br>
              <a:rPr lang="en-IN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1. </a:t>
            </a:r>
            <a:r>
              <a:rPr lang="en-US" dirty="0"/>
              <a:t>A Language that is Not Recursively Enumerable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 smtClean="0"/>
              <a:t>2. </a:t>
            </a:r>
            <a:r>
              <a:rPr lang="en-IN" dirty="0"/>
              <a:t>Post's Correspondence Problem (PCP)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 smtClean="0"/>
              <a:t> 3. </a:t>
            </a:r>
            <a:r>
              <a:rPr lang="en-US" dirty="0"/>
              <a:t>Recursive and recursively enumerable languages 	</a:t>
            </a:r>
          </a:p>
          <a:p>
            <a:pPr marL="0" indent="0">
              <a:buNone/>
            </a:pPr>
            <a:r>
              <a:rPr lang="en-IN" smtClean="0"/>
              <a:t>4. NP </a:t>
            </a:r>
            <a:r>
              <a:rPr lang="en-IN"/>
              <a:t>completeness Problem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535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655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63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812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26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40</Words>
  <Application>Microsoft Office PowerPoint</Application>
  <PresentationFormat>On-screen Show (4:3)</PresentationFormat>
  <Paragraphs>35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Introduction about Theory of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UNIT I - AUTOMATA AND REGULAR EXPRESSIONS   </vt:lpstr>
      <vt:lpstr>  UNIT II - REGULAR EXPRESSIONS AND LANGUAGES     </vt:lpstr>
      <vt:lpstr>  UNIT III - CONTEXT FREE GRAMMAR AND PUSH DOWN AUTOMATA       </vt:lpstr>
      <vt:lpstr>     UNIT IV - NORMAL FORMS AND TURING MACHINES         </vt:lpstr>
      <vt:lpstr>     UNIT V - UNDECIDABILITY       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2025-12-07T16:52:24Z</dcterms:created>
  <dcterms:modified xsi:type="dcterms:W3CDTF">2025-12-08T01:31:00Z</dcterms:modified>
</cp:coreProperties>
</file>